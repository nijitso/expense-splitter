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Bold" charset="1" panose="020B0803030501040103"/>
      <p:regular r:id="rId16"/>
    </p:embeddedFont>
    <p:embeddedFont>
      <p:font typeface="Canva Sans" charset="1" panose="020B05030305010401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329541" y="5590237"/>
            <a:ext cx="14099416" cy="140994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420234" y="-1717598"/>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929195" y="8389571"/>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8989433" y="7522582"/>
            <a:ext cx="8779632" cy="1733977"/>
          </a:xfrm>
          <a:custGeom>
            <a:avLst/>
            <a:gdLst/>
            <a:ahLst/>
            <a:cxnLst/>
            <a:rect r="r" b="b" t="t" l="l"/>
            <a:pathLst>
              <a:path h="1733977" w="8779632">
                <a:moveTo>
                  <a:pt x="0" y="0"/>
                </a:moveTo>
                <a:lnTo>
                  <a:pt x="8779632" y="0"/>
                </a:lnTo>
                <a:lnTo>
                  <a:pt x="8779632" y="1733977"/>
                </a:lnTo>
                <a:lnTo>
                  <a:pt x="0" y="1733977"/>
                </a:lnTo>
                <a:lnTo>
                  <a:pt x="0" y="0"/>
                </a:lnTo>
                <a:close/>
              </a:path>
            </a:pathLst>
          </a:custGeom>
          <a:blipFill>
            <a:blip r:embed="rId2"/>
            <a:stretch>
              <a:fillRect l="0" t="0" r="0" b="0"/>
            </a:stretch>
          </a:blipFill>
        </p:spPr>
      </p:sp>
      <p:grpSp>
        <p:nvGrpSpPr>
          <p:cNvPr name="Group 12" id="12"/>
          <p:cNvGrpSpPr>
            <a:grpSpLocks noChangeAspect="true"/>
          </p:cNvGrpSpPr>
          <p:nvPr/>
        </p:nvGrpSpPr>
        <p:grpSpPr>
          <a:xfrm rot="0">
            <a:off x="8805957" y="4011930"/>
            <a:ext cx="9146584" cy="5246370"/>
            <a:chOff x="0" y="0"/>
            <a:chExt cx="7981950" cy="4578350"/>
          </a:xfrm>
        </p:grpSpPr>
        <p:sp>
          <p:nvSpPr>
            <p:cNvPr name="Freeform 13" id="13"/>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sp>
        <p:sp>
          <p:nvSpPr>
            <p:cNvPr name="Freeform 14" id="14"/>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name="Freeform 15" id="15"/>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name="Freeform 16" id="16"/>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name="Freeform 17" id="17"/>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0" t="-3228" r="0" b="-3228"/>
              </a:stretch>
            </a:blipFill>
          </p:spPr>
        </p:sp>
      </p:grpSp>
      <p:sp>
        <p:nvSpPr>
          <p:cNvPr name="Freeform 18" id="18"/>
          <p:cNvSpPr/>
          <p:nvPr/>
        </p:nvSpPr>
        <p:spPr>
          <a:xfrm flipH="false" flipV="false" rot="0">
            <a:off x="144028" y="234348"/>
            <a:ext cx="3376601" cy="1859362"/>
          </a:xfrm>
          <a:custGeom>
            <a:avLst/>
            <a:gdLst/>
            <a:ahLst/>
            <a:cxnLst/>
            <a:rect r="r" b="b" t="t" l="l"/>
            <a:pathLst>
              <a:path h="1859362" w="3376601">
                <a:moveTo>
                  <a:pt x="0" y="0"/>
                </a:moveTo>
                <a:lnTo>
                  <a:pt x="3376601" y="0"/>
                </a:lnTo>
                <a:lnTo>
                  <a:pt x="3376601" y="1859362"/>
                </a:lnTo>
                <a:lnTo>
                  <a:pt x="0" y="1859362"/>
                </a:lnTo>
                <a:lnTo>
                  <a:pt x="0" y="0"/>
                </a:lnTo>
                <a:close/>
              </a:path>
            </a:pathLst>
          </a:custGeom>
          <a:blipFill>
            <a:blip r:embed="rId4"/>
            <a:stretch>
              <a:fillRect l="0" t="0" r="0" b="0"/>
            </a:stretch>
          </a:blipFill>
        </p:spPr>
      </p:sp>
      <p:sp>
        <p:nvSpPr>
          <p:cNvPr name="TextBox 19" id="19"/>
          <p:cNvSpPr txBox="true"/>
          <p:nvPr/>
        </p:nvSpPr>
        <p:spPr>
          <a:xfrm rot="0">
            <a:off x="1028700" y="5408024"/>
            <a:ext cx="7366063" cy="2406556"/>
          </a:xfrm>
          <a:prstGeom prst="rect">
            <a:avLst/>
          </a:prstGeom>
        </p:spPr>
        <p:txBody>
          <a:bodyPr anchor="t" rtlCol="false" tIns="0" lIns="0" bIns="0" rIns="0">
            <a:spAutoFit/>
          </a:bodyPr>
          <a:lstStyle/>
          <a:p>
            <a:pPr algn="l">
              <a:lnSpc>
                <a:spcPts val="3855"/>
              </a:lnSpc>
            </a:pPr>
            <a:r>
              <a:rPr lang="en-US" sz="2753" spc="-55" b="true">
                <a:solidFill>
                  <a:srgbClr val="051D40"/>
                </a:solidFill>
                <a:latin typeface="Canva Sans Bold"/>
                <a:ea typeface="Canva Sans Bold"/>
                <a:cs typeface="Canva Sans Bold"/>
                <a:sym typeface="Canva Sans Bold"/>
              </a:rPr>
              <a:t>Réalisé par : </a:t>
            </a:r>
            <a:r>
              <a:rPr lang="en-US" sz="2753" spc="-55" b="true">
                <a:solidFill>
                  <a:srgbClr val="051D40"/>
                </a:solidFill>
                <a:latin typeface="Canva Sans Bold"/>
                <a:ea typeface="Canva Sans Bold"/>
                <a:cs typeface="Canva Sans Bold"/>
                <a:sym typeface="Canva Sans Bold"/>
              </a:rPr>
              <a:t>MOURAFIQ Mouad                     </a:t>
            </a:r>
          </a:p>
          <a:p>
            <a:pPr algn="l">
              <a:lnSpc>
                <a:spcPts val="3855"/>
              </a:lnSpc>
            </a:pPr>
            <a:r>
              <a:rPr lang="en-US" sz="2753" spc="-55" b="true">
                <a:solidFill>
                  <a:srgbClr val="051D40"/>
                </a:solidFill>
                <a:latin typeface="Canva Sans Bold"/>
                <a:ea typeface="Canva Sans Bold"/>
                <a:cs typeface="Canva Sans Bold"/>
                <a:sym typeface="Canva Sans Bold"/>
              </a:rPr>
              <a:t>                        NAFII Mohamed</a:t>
            </a:r>
          </a:p>
          <a:p>
            <a:pPr algn="l">
              <a:lnSpc>
                <a:spcPts val="3855"/>
              </a:lnSpc>
            </a:pPr>
            <a:r>
              <a:rPr lang="en-US" sz="2753" spc="-55" b="true">
                <a:solidFill>
                  <a:srgbClr val="051D40"/>
                </a:solidFill>
                <a:latin typeface="Canva Sans Bold"/>
                <a:ea typeface="Canva Sans Bold"/>
                <a:cs typeface="Canva Sans Bold"/>
                <a:sym typeface="Canva Sans Bold"/>
              </a:rPr>
              <a:t>                        KARROUM Maroua</a:t>
            </a:r>
          </a:p>
          <a:p>
            <a:pPr algn="l">
              <a:lnSpc>
                <a:spcPts val="3855"/>
              </a:lnSpc>
            </a:pPr>
            <a:r>
              <a:rPr lang="en-US" sz="2753" spc="-55" b="true">
                <a:solidFill>
                  <a:srgbClr val="051D40"/>
                </a:solidFill>
                <a:latin typeface="Canva Sans Bold"/>
                <a:ea typeface="Canva Sans Bold"/>
                <a:cs typeface="Canva Sans Bold"/>
                <a:sym typeface="Canva Sans Bold"/>
              </a:rPr>
              <a:t>                        MARTAJ Badr</a:t>
            </a:r>
          </a:p>
          <a:p>
            <a:pPr algn="l">
              <a:lnSpc>
                <a:spcPts val="3855"/>
              </a:lnSpc>
              <a:spcBef>
                <a:spcPct val="0"/>
              </a:spcBef>
            </a:pPr>
          </a:p>
        </p:txBody>
      </p:sp>
      <p:sp>
        <p:nvSpPr>
          <p:cNvPr name="TextBox 20" id="20"/>
          <p:cNvSpPr txBox="true"/>
          <p:nvPr/>
        </p:nvSpPr>
        <p:spPr>
          <a:xfrm rot="0">
            <a:off x="144028" y="3160510"/>
            <a:ext cx="9135407" cy="1474241"/>
          </a:xfrm>
          <a:prstGeom prst="rect">
            <a:avLst/>
          </a:prstGeom>
        </p:spPr>
        <p:txBody>
          <a:bodyPr anchor="t" rtlCol="false" tIns="0" lIns="0" bIns="0" rIns="0">
            <a:spAutoFit/>
          </a:bodyPr>
          <a:lstStyle/>
          <a:p>
            <a:pPr algn="ctr">
              <a:lnSpc>
                <a:spcPts val="6183"/>
              </a:lnSpc>
            </a:pPr>
            <a:r>
              <a:rPr lang="en-US" b="true" sz="3076">
                <a:solidFill>
                  <a:srgbClr val="051D40"/>
                </a:solidFill>
                <a:latin typeface="Canva Sans Bold"/>
                <a:ea typeface="Canva Sans Bold"/>
                <a:cs typeface="Canva Sans Bold"/>
                <a:sym typeface="Canva Sans Bold"/>
              </a:rPr>
              <a:t>SplitFlow - L'Automatisation de bout en bout sur Azure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67766" y="5040630"/>
            <a:ext cx="6144965" cy="4217670"/>
            <a:chOff x="0" y="0"/>
            <a:chExt cx="1184215" cy="812800"/>
          </a:xfrm>
        </p:grpSpPr>
        <p:sp>
          <p:nvSpPr>
            <p:cNvPr name="Freeform 6" id="6"/>
            <p:cNvSpPr/>
            <p:nvPr/>
          </p:nvSpPr>
          <p:spPr>
            <a:xfrm flipH="false" flipV="false" rot="0">
              <a:off x="0" y="0"/>
              <a:ext cx="1184215" cy="812800"/>
            </a:xfrm>
            <a:custGeom>
              <a:avLst/>
              <a:gdLst/>
              <a:ahLst/>
              <a:cxnLst/>
              <a:rect r="r" b="b" t="t" l="l"/>
              <a:pathLst>
                <a:path h="812800" w="1184215">
                  <a:moveTo>
                    <a:pt x="28977" y="0"/>
                  </a:moveTo>
                  <a:lnTo>
                    <a:pt x="1155238" y="0"/>
                  </a:lnTo>
                  <a:cubicBezTo>
                    <a:pt x="1162923" y="0"/>
                    <a:pt x="1170293" y="3053"/>
                    <a:pt x="1175728" y="8487"/>
                  </a:cubicBezTo>
                  <a:cubicBezTo>
                    <a:pt x="1181162" y="13922"/>
                    <a:pt x="1184215" y="21292"/>
                    <a:pt x="1184215" y="28977"/>
                  </a:cubicBezTo>
                  <a:lnTo>
                    <a:pt x="1184215" y="783823"/>
                  </a:lnTo>
                  <a:cubicBezTo>
                    <a:pt x="1184215" y="791508"/>
                    <a:pt x="1181162" y="798878"/>
                    <a:pt x="1175728" y="804313"/>
                  </a:cubicBezTo>
                  <a:cubicBezTo>
                    <a:pt x="1170293" y="809747"/>
                    <a:pt x="1162923" y="812800"/>
                    <a:pt x="1155238" y="812800"/>
                  </a:cubicBezTo>
                  <a:lnTo>
                    <a:pt x="28977" y="812800"/>
                  </a:lnTo>
                  <a:cubicBezTo>
                    <a:pt x="21292" y="812800"/>
                    <a:pt x="13922" y="809747"/>
                    <a:pt x="8487" y="804313"/>
                  </a:cubicBezTo>
                  <a:cubicBezTo>
                    <a:pt x="3053" y="798878"/>
                    <a:pt x="0" y="791508"/>
                    <a:pt x="0" y="783823"/>
                  </a:cubicBezTo>
                  <a:lnTo>
                    <a:pt x="0" y="28977"/>
                  </a:lnTo>
                  <a:cubicBezTo>
                    <a:pt x="0" y="21292"/>
                    <a:pt x="3053" y="13922"/>
                    <a:pt x="8487" y="8487"/>
                  </a:cubicBezTo>
                  <a:cubicBezTo>
                    <a:pt x="13922" y="3053"/>
                    <a:pt x="21292" y="0"/>
                    <a:pt x="28977" y="0"/>
                  </a:cubicBezTo>
                  <a:close/>
                </a:path>
              </a:pathLst>
            </a:custGeom>
            <a:blipFill>
              <a:blip r:embed="rId2"/>
              <a:stretch>
                <a:fillRect l="-20226" t="-8252" r="-18812" b="-5695"/>
              </a:stretch>
            </a:blipFill>
          </p:spPr>
        </p:sp>
      </p:grpSp>
      <p:grpSp>
        <p:nvGrpSpPr>
          <p:cNvPr name="Group 7" id="7"/>
          <p:cNvGrpSpPr/>
          <p:nvPr/>
        </p:nvGrpSpPr>
        <p:grpSpPr>
          <a:xfrm rot="0">
            <a:off x="9144000" y="5040630"/>
            <a:ext cx="7932548" cy="4217670"/>
            <a:chOff x="0" y="0"/>
            <a:chExt cx="1528705" cy="812800"/>
          </a:xfrm>
        </p:grpSpPr>
        <p:sp>
          <p:nvSpPr>
            <p:cNvPr name="Freeform 8" id="8"/>
            <p:cNvSpPr/>
            <p:nvPr/>
          </p:nvSpPr>
          <p:spPr>
            <a:xfrm flipH="false" flipV="false" rot="0">
              <a:off x="0" y="0"/>
              <a:ext cx="1528705" cy="812800"/>
            </a:xfrm>
            <a:custGeom>
              <a:avLst/>
              <a:gdLst/>
              <a:ahLst/>
              <a:cxnLst/>
              <a:rect r="r" b="b" t="t" l="l"/>
              <a:pathLst>
                <a:path h="812800" w="1528705">
                  <a:moveTo>
                    <a:pt x="22447" y="0"/>
                  </a:moveTo>
                  <a:lnTo>
                    <a:pt x="1506258" y="0"/>
                  </a:lnTo>
                  <a:cubicBezTo>
                    <a:pt x="1512211" y="0"/>
                    <a:pt x="1517921" y="2365"/>
                    <a:pt x="1522131" y="6575"/>
                  </a:cubicBezTo>
                  <a:cubicBezTo>
                    <a:pt x="1526340" y="10784"/>
                    <a:pt x="1528705" y="16494"/>
                    <a:pt x="1528705" y="22447"/>
                  </a:cubicBezTo>
                  <a:lnTo>
                    <a:pt x="1528705" y="790353"/>
                  </a:lnTo>
                  <a:cubicBezTo>
                    <a:pt x="1528705" y="796306"/>
                    <a:pt x="1526340" y="802016"/>
                    <a:pt x="1522131" y="806225"/>
                  </a:cubicBezTo>
                  <a:cubicBezTo>
                    <a:pt x="1517921" y="810435"/>
                    <a:pt x="1512211" y="812800"/>
                    <a:pt x="1506258" y="812800"/>
                  </a:cubicBezTo>
                  <a:lnTo>
                    <a:pt x="22447" y="812800"/>
                  </a:lnTo>
                  <a:cubicBezTo>
                    <a:pt x="16494" y="812800"/>
                    <a:pt x="10784" y="810435"/>
                    <a:pt x="6575" y="806225"/>
                  </a:cubicBezTo>
                  <a:cubicBezTo>
                    <a:pt x="2365" y="802016"/>
                    <a:pt x="0" y="796306"/>
                    <a:pt x="0" y="790353"/>
                  </a:cubicBezTo>
                  <a:lnTo>
                    <a:pt x="0" y="22447"/>
                  </a:lnTo>
                  <a:cubicBezTo>
                    <a:pt x="0" y="16494"/>
                    <a:pt x="2365" y="10784"/>
                    <a:pt x="6575" y="6575"/>
                  </a:cubicBezTo>
                  <a:cubicBezTo>
                    <a:pt x="10784" y="2365"/>
                    <a:pt x="16494" y="0"/>
                    <a:pt x="22447" y="0"/>
                  </a:cubicBezTo>
                  <a:close/>
                </a:path>
              </a:pathLst>
            </a:custGeom>
            <a:blipFill>
              <a:blip r:embed="rId3"/>
              <a:stretch>
                <a:fillRect l="0" t="-8895" r="-9456" b="-6902"/>
              </a:stretch>
            </a:blipFill>
          </p:spPr>
        </p:sp>
      </p:grpSp>
      <p:sp>
        <p:nvSpPr>
          <p:cNvPr name="TextBox 9" id="9"/>
          <p:cNvSpPr txBox="true"/>
          <p:nvPr/>
        </p:nvSpPr>
        <p:spPr>
          <a:xfrm rot="0">
            <a:off x="6150020" y="674944"/>
            <a:ext cx="5987959"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L’Application SplitFlow</a:t>
            </a:r>
          </a:p>
        </p:txBody>
      </p:sp>
      <p:sp>
        <p:nvSpPr>
          <p:cNvPr name="TextBox 10" id="10"/>
          <p:cNvSpPr txBox="true"/>
          <p:nvPr/>
        </p:nvSpPr>
        <p:spPr>
          <a:xfrm rot="0">
            <a:off x="1028700" y="2328690"/>
            <a:ext cx="15178838" cy="2122497"/>
          </a:xfrm>
          <a:prstGeom prst="rect">
            <a:avLst/>
          </a:prstGeom>
        </p:spPr>
        <p:txBody>
          <a:bodyPr anchor="t" rtlCol="false" tIns="0" lIns="0" bIns="0" rIns="0">
            <a:spAutoFit/>
          </a:bodyPr>
          <a:lstStyle/>
          <a:p>
            <a:pPr algn="just" marL="517232" indent="-258616" lvl="1">
              <a:lnSpc>
                <a:spcPts val="4312"/>
              </a:lnSpc>
              <a:buFont typeface="Arial"/>
              <a:buChar char="•"/>
            </a:pPr>
            <a:r>
              <a:rPr lang="en-US" sz="2395">
                <a:solidFill>
                  <a:srgbClr val="051D40"/>
                </a:solidFill>
                <a:latin typeface="Canva Sans"/>
                <a:ea typeface="Canva Sans"/>
                <a:cs typeface="Canva Sans"/>
                <a:sym typeface="Canva Sans"/>
              </a:rPr>
              <a:t>La conteneurisation de l’application est réalisée avec Docker, en utilisant une image légère basée sur Node.js Alpine. Le build multi-stage permet de séparer la phase de construction et d’exécution, réduisant ainsi la taille de l’image et améliorant la sécurité. Les images sont ensuite stockées sur DockerHub pour un déploiement rapide.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144000" y="3063076"/>
            <a:ext cx="8761098" cy="4807653"/>
          </a:xfrm>
          <a:custGeom>
            <a:avLst/>
            <a:gdLst/>
            <a:ahLst/>
            <a:cxnLst/>
            <a:rect r="r" b="b" t="t" l="l"/>
            <a:pathLst>
              <a:path h="4807653" w="8761098">
                <a:moveTo>
                  <a:pt x="0" y="0"/>
                </a:moveTo>
                <a:lnTo>
                  <a:pt x="8761098" y="0"/>
                </a:lnTo>
                <a:lnTo>
                  <a:pt x="8761098" y="4807653"/>
                </a:lnTo>
                <a:lnTo>
                  <a:pt x="0" y="4807653"/>
                </a:lnTo>
                <a:lnTo>
                  <a:pt x="0" y="0"/>
                </a:lnTo>
                <a:close/>
              </a:path>
            </a:pathLst>
          </a:custGeom>
          <a:blipFill>
            <a:blip r:embed="rId2"/>
            <a:stretch>
              <a:fillRect l="0" t="0" r="0" b="0"/>
            </a:stretch>
          </a:blipFill>
        </p:spPr>
      </p:sp>
      <p:sp>
        <p:nvSpPr>
          <p:cNvPr name="TextBox 6" id="6"/>
          <p:cNvSpPr txBox="true"/>
          <p:nvPr/>
        </p:nvSpPr>
        <p:spPr>
          <a:xfrm rot="0">
            <a:off x="5529333" y="674944"/>
            <a:ext cx="5987959"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Conteneurisation Native</a:t>
            </a:r>
          </a:p>
        </p:txBody>
      </p:sp>
      <p:sp>
        <p:nvSpPr>
          <p:cNvPr name="TextBox 7" id="7"/>
          <p:cNvSpPr txBox="true"/>
          <p:nvPr/>
        </p:nvSpPr>
        <p:spPr>
          <a:xfrm rot="0">
            <a:off x="616187" y="2929726"/>
            <a:ext cx="7649305" cy="4294197"/>
          </a:xfrm>
          <a:prstGeom prst="rect">
            <a:avLst/>
          </a:prstGeom>
        </p:spPr>
        <p:txBody>
          <a:bodyPr anchor="t" rtlCol="false" tIns="0" lIns="0" bIns="0" rIns="0">
            <a:spAutoFit/>
          </a:bodyPr>
          <a:lstStyle/>
          <a:p>
            <a:pPr algn="just" marL="517232" indent="-258616" lvl="1">
              <a:lnSpc>
                <a:spcPts val="4312"/>
              </a:lnSpc>
              <a:buFont typeface="Arial"/>
              <a:buChar char="•"/>
            </a:pPr>
            <a:r>
              <a:rPr lang="en-US" sz="2395">
                <a:solidFill>
                  <a:srgbClr val="051D40"/>
                </a:solidFill>
                <a:latin typeface="Canva Sans"/>
                <a:ea typeface="Canva Sans"/>
                <a:cs typeface="Canva Sans"/>
                <a:sym typeface="Canva Sans"/>
              </a:rPr>
              <a:t>La conteneurisation de l’application est réalisée avec Docker, en utilisant une image légère basée sur Node.js Alpine. Le build multi-stage permet de séparer la phase de construction et d’exécution, réduisant ainsi la taille de l’image et améliorant la sécurité. Les images sont ensuite stockées sur DockerHub pour un déploiement rapide.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144000" y="2548890"/>
            <a:ext cx="8735987" cy="5755204"/>
          </a:xfrm>
          <a:custGeom>
            <a:avLst/>
            <a:gdLst/>
            <a:ahLst/>
            <a:cxnLst/>
            <a:rect r="r" b="b" t="t" l="l"/>
            <a:pathLst>
              <a:path h="5755204" w="8735987">
                <a:moveTo>
                  <a:pt x="0" y="0"/>
                </a:moveTo>
                <a:lnTo>
                  <a:pt x="8735987" y="0"/>
                </a:lnTo>
                <a:lnTo>
                  <a:pt x="8735987" y="5755204"/>
                </a:lnTo>
                <a:lnTo>
                  <a:pt x="0" y="5755204"/>
                </a:lnTo>
                <a:lnTo>
                  <a:pt x="0" y="0"/>
                </a:lnTo>
                <a:close/>
              </a:path>
            </a:pathLst>
          </a:custGeom>
          <a:blipFill>
            <a:blip r:embed="rId2"/>
            <a:stretch>
              <a:fillRect l="0" t="0" r="0" b="0"/>
            </a:stretch>
          </a:blipFill>
        </p:spPr>
      </p:sp>
      <p:sp>
        <p:nvSpPr>
          <p:cNvPr name="TextBox 6" id="6"/>
          <p:cNvSpPr txBox="true"/>
          <p:nvPr/>
        </p:nvSpPr>
        <p:spPr>
          <a:xfrm rot="0">
            <a:off x="5350776" y="674944"/>
            <a:ext cx="7586449"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Architecture de l’Infrastructure</a:t>
            </a:r>
          </a:p>
        </p:txBody>
      </p:sp>
      <p:sp>
        <p:nvSpPr>
          <p:cNvPr name="TextBox 7" id="7"/>
          <p:cNvSpPr txBox="true"/>
          <p:nvPr/>
        </p:nvSpPr>
        <p:spPr>
          <a:xfrm rot="0">
            <a:off x="1028700" y="2444115"/>
            <a:ext cx="7494613" cy="4067448"/>
          </a:xfrm>
          <a:prstGeom prst="rect">
            <a:avLst/>
          </a:prstGeom>
        </p:spPr>
        <p:txBody>
          <a:bodyPr anchor="t" rtlCol="false" tIns="0" lIns="0" bIns="0" rIns="0">
            <a:spAutoFit/>
          </a:bodyPr>
          <a:lstStyle/>
          <a:p>
            <a:pPr algn="just" marL="517232" indent="-258616" lvl="1">
              <a:lnSpc>
                <a:spcPts val="4072"/>
              </a:lnSpc>
              <a:buFont typeface="Arial"/>
              <a:buChar char="•"/>
            </a:pPr>
            <a:r>
              <a:rPr lang="en-US" sz="2395">
                <a:solidFill>
                  <a:srgbClr val="051D40"/>
                </a:solidFill>
                <a:latin typeface="Canva Sans"/>
                <a:ea typeface="Canva Sans"/>
                <a:cs typeface="Canva Sans"/>
                <a:sym typeface="Canva Sans"/>
              </a:rPr>
              <a:t>La conteneurisation de l’application est réalisée avec Docker, en utilisant une image légère basée sur Node.js Alpine. Le build multi-stage permet de séparer la phase de construction et d’exécution, réduisant ainsi la taille de l’image et améliorant la sécurité. Les images sont ensuite stockées sur DockerHub pour un déploiement rapide.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406177" y="674944"/>
            <a:ext cx="5475647"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Infrastructure as Code</a:t>
            </a:r>
          </a:p>
        </p:txBody>
      </p:sp>
      <p:sp>
        <p:nvSpPr>
          <p:cNvPr name="TextBox 6" id="6"/>
          <p:cNvSpPr txBox="true"/>
          <p:nvPr/>
        </p:nvSpPr>
        <p:spPr>
          <a:xfrm rot="0">
            <a:off x="1521448" y="3314564"/>
            <a:ext cx="6918888" cy="3553098"/>
          </a:xfrm>
          <a:prstGeom prst="rect">
            <a:avLst/>
          </a:prstGeom>
        </p:spPr>
        <p:txBody>
          <a:bodyPr anchor="t" rtlCol="false" tIns="0" lIns="0" bIns="0" rIns="0">
            <a:spAutoFit/>
          </a:bodyPr>
          <a:lstStyle/>
          <a:p>
            <a:pPr algn="just" marL="517232" indent="-258616" lvl="1">
              <a:lnSpc>
                <a:spcPts val="4072"/>
              </a:lnSpc>
              <a:buFont typeface="Arial"/>
              <a:buChar char="•"/>
            </a:pPr>
            <a:r>
              <a:rPr lang="en-US" sz="2395">
                <a:solidFill>
                  <a:srgbClr val="051D40"/>
                </a:solidFill>
                <a:latin typeface="Canva Sans"/>
                <a:ea typeface="Canva Sans"/>
                <a:cs typeface="Canva Sans"/>
                <a:sym typeface="Canva Sans"/>
              </a:rPr>
              <a:t>L’infrastructure est gérée avec </a:t>
            </a:r>
            <a:r>
              <a:rPr lang="en-US" b="true" sz="2395">
                <a:solidFill>
                  <a:srgbClr val="051D40"/>
                </a:solidFill>
                <a:latin typeface="Canva Sans Bold"/>
                <a:ea typeface="Canva Sans Bold"/>
                <a:cs typeface="Canva Sans Bold"/>
                <a:sym typeface="Canva Sans Bold"/>
              </a:rPr>
              <a:t>Terraform</a:t>
            </a:r>
            <a:r>
              <a:rPr lang="en-US" sz="2395">
                <a:solidFill>
                  <a:srgbClr val="051D40"/>
                </a:solidFill>
                <a:latin typeface="Canva Sans"/>
                <a:ea typeface="Canva Sans"/>
                <a:cs typeface="Canva Sans"/>
                <a:sym typeface="Canva Sans"/>
              </a:rPr>
              <a:t>, ce qui permet de créer automatiquement les machines virtuelles, le réseau et les règles de sécurité sur le cloud. Toute l’infrastructure est définie sous forme de code, ce qui garantit un déploiement rapide, reproductible et versionné.</a:t>
            </a:r>
          </a:p>
        </p:txBody>
      </p:sp>
      <p:sp>
        <p:nvSpPr>
          <p:cNvPr name="Freeform 7" id="7"/>
          <p:cNvSpPr/>
          <p:nvPr/>
        </p:nvSpPr>
        <p:spPr>
          <a:xfrm flipH="false" flipV="false" rot="0">
            <a:off x="9668270" y="3518944"/>
            <a:ext cx="7591030" cy="3249112"/>
          </a:xfrm>
          <a:custGeom>
            <a:avLst/>
            <a:gdLst/>
            <a:ahLst/>
            <a:cxnLst/>
            <a:rect r="r" b="b" t="t" l="l"/>
            <a:pathLst>
              <a:path h="3249112" w="7591030">
                <a:moveTo>
                  <a:pt x="0" y="0"/>
                </a:moveTo>
                <a:lnTo>
                  <a:pt x="7591030" y="0"/>
                </a:lnTo>
                <a:lnTo>
                  <a:pt x="7591030" y="3249112"/>
                </a:lnTo>
                <a:lnTo>
                  <a:pt x="0" y="3249112"/>
                </a:lnTo>
                <a:lnTo>
                  <a:pt x="0" y="0"/>
                </a:lnTo>
                <a:close/>
              </a:path>
            </a:pathLst>
          </a:custGeom>
          <a:blipFill>
            <a:blip r:embed="rId2"/>
            <a:stretch>
              <a:fillRect l="0" t="0" r="-48876"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144000" y="3162164"/>
            <a:ext cx="8639967" cy="4989581"/>
          </a:xfrm>
          <a:custGeom>
            <a:avLst/>
            <a:gdLst/>
            <a:ahLst/>
            <a:cxnLst/>
            <a:rect r="r" b="b" t="t" l="l"/>
            <a:pathLst>
              <a:path h="4989581" w="8639967">
                <a:moveTo>
                  <a:pt x="0" y="0"/>
                </a:moveTo>
                <a:lnTo>
                  <a:pt x="8639967" y="0"/>
                </a:lnTo>
                <a:lnTo>
                  <a:pt x="8639967" y="4989580"/>
                </a:lnTo>
                <a:lnTo>
                  <a:pt x="0" y="4989580"/>
                </a:lnTo>
                <a:lnTo>
                  <a:pt x="0" y="0"/>
                </a:lnTo>
                <a:close/>
              </a:path>
            </a:pathLst>
          </a:custGeom>
          <a:blipFill>
            <a:blip r:embed="rId2"/>
            <a:stretch>
              <a:fillRect l="0" t="0" r="0" b="0"/>
            </a:stretch>
          </a:blipFill>
        </p:spPr>
      </p:sp>
      <p:sp>
        <p:nvSpPr>
          <p:cNvPr name="TextBox 6" id="6"/>
          <p:cNvSpPr txBox="true"/>
          <p:nvPr/>
        </p:nvSpPr>
        <p:spPr>
          <a:xfrm rot="0">
            <a:off x="5743135" y="674944"/>
            <a:ext cx="6801731"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Configuration Management</a:t>
            </a:r>
          </a:p>
        </p:txBody>
      </p:sp>
      <p:sp>
        <p:nvSpPr>
          <p:cNvPr name="TextBox 7" id="7"/>
          <p:cNvSpPr txBox="true"/>
          <p:nvPr/>
        </p:nvSpPr>
        <p:spPr>
          <a:xfrm rot="0">
            <a:off x="1028700" y="3057389"/>
            <a:ext cx="7622552" cy="4067448"/>
          </a:xfrm>
          <a:prstGeom prst="rect">
            <a:avLst/>
          </a:prstGeom>
        </p:spPr>
        <p:txBody>
          <a:bodyPr anchor="t" rtlCol="false" tIns="0" lIns="0" bIns="0" rIns="0">
            <a:spAutoFit/>
          </a:bodyPr>
          <a:lstStyle/>
          <a:p>
            <a:pPr algn="just">
              <a:lnSpc>
                <a:spcPts val="4072"/>
              </a:lnSpc>
            </a:pPr>
            <a:r>
              <a:rPr lang="en-US" sz="2395">
                <a:solidFill>
                  <a:srgbClr val="051D40"/>
                </a:solidFill>
                <a:latin typeface="Canva Sans"/>
                <a:ea typeface="Canva Sans"/>
                <a:cs typeface="Canva Sans"/>
                <a:sym typeface="Canva Sans"/>
              </a:rPr>
              <a:t>La configuration des serveurs est automatisée avec Ansibl</a:t>
            </a:r>
            <a:r>
              <a:rPr lang="en-US" sz="2395">
                <a:solidFill>
                  <a:srgbClr val="051D40"/>
                </a:solidFill>
                <a:latin typeface="Canva Sans"/>
                <a:ea typeface="Canva Sans"/>
                <a:cs typeface="Canva Sans"/>
                <a:sym typeface="Canva Sans"/>
              </a:rPr>
              <a:t>e</a:t>
            </a:r>
            <a:r>
              <a:rPr lang="en-US" sz="2395">
                <a:solidFill>
                  <a:srgbClr val="051D40"/>
                </a:solidFill>
                <a:latin typeface="Canva Sans"/>
                <a:ea typeface="Canva Sans"/>
                <a:cs typeface="Canva Sans"/>
                <a:sym typeface="Canva Sans"/>
              </a:rPr>
              <a:t>. Cet outil se connecte aux machines virtuelles via SSH pour installer automatiquement les dépendances nécessaires comme Docker et K3s. Il permet également d’intégrer automatiquement les nœuds workers au cluster Kubernetes, garantissant une infrastructure cohérente et reproductible.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911214" y="5910039"/>
            <a:ext cx="11452831" cy="2866955"/>
          </a:xfrm>
          <a:custGeom>
            <a:avLst/>
            <a:gdLst/>
            <a:ahLst/>
            <a:cxnLst/>
            <a:rect r="r" b="b" t="t" l="l"/>
            <a:pathLst>
              <a:path h="2866955" w="11452831">
                <a:moveTo>
                  <a:pt x="0" y="0"/>
                </a:moveTo>
                <a:lnTo>
                  <a:pt x="11452831" y="0"/>
                </a:lnTo>
                <a:lnTo>
                  <a:pt x="11452831" y="2866955"/>
                </a:lnTo>
                <a:lnTo>
                  <a:pt x="0" y="2866955"/>
                </a:lnTo>
                <a:lnTo>
                  <a:pt x="0" y="0"/>
                </a:lnTo>
                <a:close/>
              </a:path>
            </a:pathLst>
          </a:custGeom>
          <a:blipFill>
            <a:blip r:embed="rId2"/>
            <a:stretch>
              <a:fillRect l="0" t="-5861" r="0" b="0"/>
            </a:stretch>
          </a:blipFill>
        </p:spPr>
      </p:sp>
      <p:sp>
        <p:nvSpPr>
          <p:cNvPr name="TextBox 6" id="6"/>
          <p:cNvSpPr txBox="true"/>
          <p:nvPr/>
        </p:nvSpPr>
        <p:spPr>
          <a:xfrm rot="0">
            <a:off x="5951035" y="674944"/>
            <a:ext cx="6385929"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Orchestration Kubernetes</a:t>
            </a:r>
          </a:p>
        </p:txBody>
      </p:sp>
      <p:sp>
        <p:nvSpPr>
          <p:cNvPr name="TextBox 7" id="7"/>
          <p:cNvSpPr txBox="true"/>
          <p:nvPr/>
        </p:nvSpPr>
        <p:spPr>
          <a:xfrm rot="0">
            <a:off x="1867766" y="1854614"/>
            <a:ext cx="13539728" cy="3524137"/>
          </a:xfrm>
          <a:prstGeom prst="rect">
            <a:avLst/>
          </a:prstGeom>
        </p:spPr>
        <p:txBody>
          <a:bodyPr anchor="t" rtlCol="false" tIns="0" lIns="0" bIns="0" rIns="0">
            <a:spAutoFit/>
          </a:bodyPr>
          <a:lstStyle/>
          <a:p>
            <a:pPr algn="just" marL="517232" indent="-258616" lvl="1">
              <a:lnSpc>
                <a:spcPts val="5725"/>
              </a:lnSpc>
              <a:buFont typeface="Arial"/>
              <a:buChar char="•"/>
            </a:pPr>
            <a:r>
              <a:rPr lang="en-US" b="true" sz="2395">
                <a:solidFill>
                  <a:srgbClr val="051D40"/>
                </a:solidFill>
                <a:latin typeface="Canva Sans Bold"/>
                <a:ea typeface="Canva Sans Bold"/>
                <a:cs typeface="Canva Sans Bold"/>
                <a:sym typeface="Canva Sans Bold"/>
              </a:rPr>
              <a:t>Self-Healing</a:t>
            </a:r>
            <a:r>
              <a:rPr lang="en-US" sz="2395">
                <a:solidFill>
                  <a:srgbClr val="051D40"/>
                </a:solidFill>
                <a:latin typeface="Canva Sans"/>
                <a:ea typeface="Canva Sans"/>
                <a:cs typeface="Canva Sans"/>
                <a:sym typeface="Canva Sans"/>
              </a:rPr>
              <a:t> : Kubernetes redémarre automatiquement les pods en cas de crash.</a:t>
            </a:r>
          </a:p>
          <a:p>
            <a:pPr algn="just" marL="517232" indent="-258616" lvl="1">
              <a:lnSpc>
                <a:spcPts val="5725"/>
              </a:lnSpc>
              <a:buFont typeface="Arial"/>
              <a:buChar char="•"/>
            </a:pPr>
            <a:r>
              <a:rPr lang="en-US" b="true" sz="2395">
                <a:solidFill>
                  <a:srgbClr val="051D40"/>
                </a:solidFill>
                <a:latin typeface="Canva Sans Bold"/>
                <a:ea typeface="Canva Sans Bold"/>
                <a:cs typeface="Canva Sans Bold"/>
                <a:sym typeface="Canva Sans Bold"/>
              </a:rPr>
              <a:t>Rolling Updates</a:t>
            </a:r>
            <a:r>
              <a:rPr lang="en-US" sz="2395">
                <a:solidFill>
                  <a:srgbClr val="051D40"/>
                </a:solidFill>
                <a:latin typeface="Canva Sans"/>
                <a:ea typeface="Canva Sans"/>
                <a:cs typeface="Canva Sans"/>
                <a:sym typeface="Canva Sans"/>
              </a:rPr>
              <a:t> : Mise à jour continue sans interruption de service.</a:t>
            </a:r>
          </a:p>
          <a:p>
            <a:pPr algn="just" marL="517232" indent="-258616" lvl="1">
              <a:lnSpc>
                <a:spcPts val="5725"/>
              </a:lnSpc>
              <a:buFont typeface="Arial"/>
              <a:buChar char="•"/>
            </a:pPr>
            <a:r>
              <a:rPr lang="en-US" b="true" sz="2395">
                <a:solidFill>
                  <a:srgbClr val="051D40"/>
                </a:solidFill>
                <a:latin typeface="Canva Sans Bold"/>
                <a:ea typeface="Canva Sans Bold"/>
                <a:cs typeface="Canva Sans Bold"/>
                <a:sym typeface="Canva Sans Bold"/>
              </a:rPr>
              <a:t>Horizontal Scaling</a:t>
            </a:r>
            <a:r>
              <a:rPr lang="en-US" sz="2395">
                <a:solidFill>
                  <a:srgbClr val="051D40"/>
                </a:solidFill>
                <a:latin typeface="Canva Sans"/>
                <a:ea typeface="Canva Sans"/>
                <a:cs typeface="Canva Sans"/>
                <a:sym typeface="Canva Sans"/>
              </a:rPr>
              <a:t> : Plusieurs réplicas de l’application distribués sur le cluster.</a:t>
            </a:r>
          </a:p>
          <a:p>
            <a:pPr algn="just" marL="517232" indent="-258616" lvl="1">
              <a:lnSpc>
                <a:spcPts val="5725"/>
              </a:lnSpc>
              <a:buFont typeface="Arial"/>
              <a:buChar char="•"/>
            </a:pPr>
            <a:r>
              <a:rPr lang="en-US" b="true" sz="2395">
                <a:solidFill>
                  <a:srgbClr val="051D40"/>
                </a:solidFill>
                <a:latin typeface="Canva Sans Bold"/>
                <a:ea typeface="Canva Sans Bold"/>
                <a:cs typeface="Canva Sans Bold"/>
                <a:sym typeface="Canva Sans Bold"/>
              </a:rPr>
              <a:t>Léger &amp; Certifié</a:t>
            </a:r>
            <a:r>
              <a:rPr lang="en-US" sz="2395">
                <a:solidFill>
                  <a:srgbClr val="051D40"/>
                </a:solidFill>
                <a:latin typeface="Canva Sans"/>
                <a:ea typeface="Canva Sans"/>
                <a:cs typeface="Canva Sans"/>
                <a:sym typeface="Canva Sans"/>
              </a:rPr>
              <a:t> : K3s est une version allégée mais complète de Kubernetes, parfaite pour des environnements cloud ou des VM limitées en ressources.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333447" y="7899484"/>
            <a:ext cx="11621106" cy="1358816"/>
          </a:xfrm>
          <a:custGeom>
            <a:avLst/>
            <a:gdLst/>
            <a:ahLst/>
            <a:cxnLst/>
            <a:rect r="r" b="b" t="t" l="l"/>
            <a:pathLst>
              <a:path h="1358816" w="11621106">
                <a:moveTo>
                  <a:pt x="0" y="0"/>
                </a:moveTo>
                <a:lnTo>
                  <a:pt x="11621106" y="0"/>
                </a:lnTo>
                <a:lnTo>
                  <a:pt x="11621106" y="1358816"/>
                </a:lnTo>
                <a:lnTo>
                  <a:pt x="0" y="1358816"/>
                </a:lnTo>
                <a:lnTo>
                  <a:pt x="0" y="0"/>
                </a:lnTo>
                <a:close/>
              </a:path>
            </a:pathLst>
          </a:custGeom>
          <a:blipFill>
            <a:blip r:embed="rId2"/>
            <a:stretch>
              <a:fillRect l="0" t="-53933" r="0" b="-2147"/>
            </a:stretch>
          </a:blipFill>
        </p:spPr>
      </p:sp>
      <p:sp>
        <p:nvSpPr>
          <p:cNvPr name="TextBox 6" id="6"/>
          <p:cNvSpPr txBox="true"/>
          <p:nvPr/>
        </p:nvSpPr>
        <p:spPr>
          <a:xfrm rot="0">
            <a:off x="6851993" y="674944"/>
            <a:ext cx="3571272"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Pipeline CI/CD</a:t>
            </a:r>
          </a:p>
        </p:txBody>
      </p:sp>
      <p:sp>
        <p:nvSpPr>
          <p:cNvPr name="TextBox 7" id="7"/>
          <p:cNvSpPr txBox="true"/>
          <p:nvPr/>
        </p:nvSpPr>
        <p:spPr>
          <a:xfrm rot="0">
            <a:off x="2216290" y="1479747"/>
            <a:ext cx="15043010" cy="6419737"/>
          </a:xfrm>
          <a:prstGeom prst="rect">
            <a:avLst/>
          </a:prstGeom>
        </p:spPr>
        <p:txBody>
          <a:bodyPr anchor="t" rtlCol="false" tIns="0" lIns="0" bIns="0" rIns="0">
            <a:spAutoFit/>
          </a:bodyPr>
          <a:lstStyle/>
          <a:p>
            <a:pPr algn="just">
              <a:lnSpc>
                <a:spcPts val="5725"/>
              </a:lnSpc>
            </a:pPr>
            <a:r>
              <a:rPr lang="en-US" sz="2395" b="true">
                <a:solidFill>
                  <a:srgbClr val="051D40"/>
                </a:solidFill>
                <a:latin typeface="Canva Sans Bold"/>
                <a:ea typeface="Canva Sans Bold"/>
                <a:cs typeface="Canva Sans Bold"/>
                <a:sym typeface="Canva Sans Bold"/>
              </a:rPr>
              <a:t>Validation &amp; Test (CI)</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Exécution automatique des tests unitaires à chaque push.</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Isolation de l'environnement avec un service MongoDB éphémère.</a:t>
            </a:r>
          </a:p>
          <a:p>
            <a:pPr algn="just">
              <a:lnSpc>
                <a:spcPts val="5725"/>
              </a:lnSpc>
            </a:pPr>
            <a:r>
              <a:rPr lang="en-US" sz="2395" b="true">
                <a:solidFill>
                  <a:srgbClr val="051D40"/>
                </a:solidFill>
                <a:latin typeface="Canva Sans Bold"/>
                <a:ea typeface="Canva Sans Bold"/>
                <a:cs typeface="Canva Sans Bold"/>
                <a:sym typeface="Canva Sans Bold"/>
              </a:rPr>
              <a:t>Livraison (CD - Delivery)</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Construction de l'image Docker optimisée.</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Publication automatique sur le DockerHub (Registre distant).</a:t>
            </a:r>
          </a:p>
          <a:p>
            <a:pPr algn="just">
              <a:lnSpc>
                <a:spcPts val="5725"/>
              </a:lnSpc>
            </a:pPr>
            <a:r>
              <a:rPr lang="en-US" sz="2395" b="true">
                <a:solidFill>
                  <a:srgbClr val="051D40"/>
                </a:solidFill>
                <a:latin typeface="Canva Sans Bold"/>
                <a:ea typeface="Canva Sans Bold"/>
                <a:cs typeface="Canva Sans Bold"/>
                <a:sym typeface="Canva Sans Bold"/>
              </a:rPr>
              <a:t>Déploiement (CD - Deployment)</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Connexion sécurisée via SSH sur le Master Azure.</a:t>
            </a:r>
          </a:p>
          <a:p>
            <a:pPr algn="l" marL="517232" indent="-258616" lvl="1">
              <a:lnSpc>
                <a:spcPts val="5725"/>
              </a:lnSpc>
              <a:buFont typeface="Arial"/>
              <a:buChar char="•"/>
            </a:pPr>
            <a:r>
              <a:rPr lang="en-US" sz="2395">
                <a:solidFill>
                  <a:srgbClr val="051D40"/>
                </a:solidFill>
                <a:latin typeface="Canva Sans"/>
                <a:ea typeface="Canva Sans"/>
                <a:cs typeface="Canva Sans"/>
                <a:sym typeface="Canva Sans"/>
              </a:rPr>
              <a:t>Mise à jour du cluster K3s (Rolling Update) : Zero-Downtime.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990140" y="3969325"/>
            <a:ext cx="7869419" cy="4425562"/>
          </a:xfrm>
          <a:custGeom>
            <a:avLst/>
            <a:gdLst/>
            <a:ahLst/>
            <a:cxnLst/>
            <a:rect r="r" b="b" t="t" l="l"/>
            <a:pathLst>
              <a:path h="4425562" w="7869419">
                <a:moveTo>
                  <a:pt x="0" y="0"/>
                </a:moveTo>
                <a:lnTo>
                  <a:pt x="7869419" y="0"/>
                </a:lnTo>
                <a:lnTo>
                  <a:pt x="7869419" y="4425562"/>
                </a:lnTo>
                <a:lnTo>
                  <a:pt x="0" y="4425562"/>
                </a:lnTo>
                <a:lnTo>
                  <a:pt x="0" y="0"/>
                </a:lnTo>
                <a:close/>
              </a:path>
            </a:pathLst>
          </a:custGeom>
          <a:blipFill>
            <a:blip r:embed="rId2"/>
            <a:stretch>
              <a:fillRect l="-26130" t="-27378" r="-1219" b="0"/>
            </a:stretch>
          </a:blipFill>
        </p:spPr>
      </p:sp>
      <p:sp>
        <p:nvSpPr>
          <p:cNvPr name="TextBox 6" id="6"/>
          <p:cNvSpPr txBox="true"/>
          <p:nvPr/>
        </p:nvSpPr>
        <p:spPr>
          <a:xfrm rot="0">
            <a:off x="5599203" y="674944"/>
            <a:ext cx="7089593" cy="631312"/>
          </a:xfrm>
          <a:prstGeom prst="rect">
            <a:avLst/>
          </a:prstGeom>
        </p:spPr>
        <p:txBody>
          <a:bodyPr anchor="t" rtlCol="false" tIns="0" lIns="0" bIns="0" rIns="0">
            <a:spAutoFit/>
          </a:bodyPr>
          <a:lstStyle/>
          <a:p>
            <a:pPr algn="l">
              <a:lnSpc>
                <a:spcPts val="5103"/>
              </a:lnSpc>
              <a:spcBef>
                <a:spcPct val="0"/>
              </a:spcBef>
            </a:pPr>
            <a:r>
              <a:rPr lang="en-US" b="true" sz="3645">
                <a:solidFill>
                  <a:srgbClr val="051D40"/>
                </a:solidFill>
                <a:latin typeface="Canva Sans Bold"/>
                <a:ea typeface="Canva Sans Bold"/>
                <a:cs typeface="Canva Sans Bold"/>
                <a:sym typeface="Canva Sans Bold"/>
              </a:rPr>
              <a:t>Monitoring &amp; Observability</a:t>
            </a:r>
          </a:p>
        </p:txBody>
      </p:sp>
      <p:sp>
        <p:nvSpPr>
          <p:cNvPr name="TextBox 7" id="7"/>
          <p:cNvSpPr txBox="true"/>
          <p:nvPr/>
        </p:nvSpPr>
        <p:spPr>
          <a:xfrm rot="0">
            <a:off x="1028700" y="2839212"/>
            <a:ext cx="8330424" cy="5695188"/>
          </a:xfrm>
          <a:prstGeom prst="rect">
            <a:avLst/>
          </a:prstGeom>
        </p:spPr>
        <p:txBody>
          <a:bodyPr anchor="t" rtlCol="false" tIns="0" lIns="0" bIns="0" rIns="0">
            <a:spAutoFit/>
          </a:bodyPr>
          <a:lstStyle/>
          <a:p>
            <a:pPr algn="just" marL="518160" indent="-259080" lvl="1">
              <a:lnSpc>
                <a:spcPts val="5736"/>
              </a:lnSpc>
              <a:buFont typeface="Arial"/>
              <a:buChar char="•"/>
            </a:pPr>
            <a:r>
              <a:rPr lang="en-US" b="true" sz="2400">
                <a:solidFill>
                  <a:srgbClr val="051D40"/>
                </a:solidFill>
                <a:latin typeface="Canva Sans Bold"/>
                <a:ea typeface="Canva Sans Bold"/>
                <a:cs typeface="Canva Sans Bold"/>
                <a:sym typeface="Canva Sans Bold"/>
              </a:rPr>
              <a:t>Méthode USE : </a:t>
            </a:r>
            <a:r>
              <a:rPr lang="en-US" sz="2400">
                <a:solidFill>
                  <a:srgbClr val="051D40"/>
                </a:solidFill>
                <a:latin typeface="Canva Sans"/>
                <a:ea typeface="Canva Sans"/>
                <a:cs typeface="Canva Sans"/>
                <a:sym typeface="Canva Sans"/>
              </a:rPr>
              <a:t>Analyse directe de l'Utilisation, la Saturation et les Erreurs des nœuds.</a:t>
            </a:r>
          </a:p>
          <a:p>
            <a:pPr algn="just" marL="518160" indent="-259080" lvl="1">
              <a:lnSpc>
                <a:spcPts val="5736"/>
              </a:lnSpc>
              <a:buFont typeface="Arial"/>
              <a:buChar char="•"/>
            </a:pPr>
            <a:r>
              <a:rPr lang="en-US" b="true" sz="2400">
                <a:solidFill>
                  <a:srgbClr val="051D40"/>
                </a:solidFill>
                <a:latin typeface="Canva Sans Bold"/>
                <a:ea typeface="Canva Sans Bold"/>
                <a:cs typeface="Canva Sans Bold"/>
                <a:sym typeface="Canva Sans Bold"/>
              </a:rPr>
              <a:t>Dashboard Temps Réel : </a:t>
            </a:r>
            <a:r>
              <a:rPr lang="en-US" sz="2400">
                <a:solidFill>
                  <a:srgbClr val="051D40"/>
                </a:solidFill>
                <a:latin typeface="Canva Sans"/>
                <a:ea typeface="Canva Sans"/>
                <a:cs typeface="Canva Sans"/>
                <a:sym typeface="Canva Sans"/>
              </a:rPr>
              <a:t>Suivi granulaire de la charge CPU (~40%) et de la mémoire (~25%).</a:t>
            </a:r>
          </a:p>
          <a:p>
            <a:pPr algn="just" marL="518160" indent="-259080" lvl="1">
              <a:lnSpc>
                <a:spcPts val="5736"/>
              </a:lnSpc>
              <a:buFont typeface="Arial"/>
              <a:buChar char="•"/>
            </a:pPr>
            <a:r>
              <a:rPr lang="en-US" b="true" sz="2400">
                <a:solidFill>
                  <a:srgbClr val="051D40"/>
                </a:solidFill>
                <a:latin typeface="Canva Sans Bold"/>
                <a:ea typeface="Canva Sans Bold"/>
                <a:cs typeface="Canva Sans Bold"/>
                <a:sym typeface="Canva Sans Bold"/>
              </a:rPr>
              <a:t>Santé du Système : </a:t>
            </a:r>
            <a:r>
              <a:rPr lang="en-US" sz="2400">
                <a:solidFill>
                  <a:srgbClr val="051D40"/>
                </a:solidFill>
                <a:latin typeface="Canva Sans"/>
                <a:ea typeface="Canva Sans"/>
                <a:cs typeface="Canva Sans"/>
                <a:sym typeface="Canva Sans"/>
              </a:rPr>
              <a:t>Détection proactive des pics de saturation pour garantir la haute disponibilité.</a:t>
            </a:r>
          </a:p>
          <a:p>
            <a:pPr algn="just" marL="518160" indent="-259080" lvl="1">
              <a:lnSpc>
                <a:spcPts val="5736"/>
              </a:lnSpc>
              <a:buFont typeface="Arial"/>
              <a:buChar char="•"/>
            </a:pPr>
            <a:r>
              <a:rPr lang="en-US" b="true" sz="2400">
                <a:solidFill>
                  <a:srgbClr val="051D40"/>
                </a:solidFill>
                <a:latin typeface="Canva Sans Bold"/>
                <a:ea typeface="Canva Sans Bold"/>
                <a:cs typeface="Canva Sans Bold"/>
                <a:sym typeface="Canva Sans Bold"/>
              </a:rPr>
              <a:t>Stack Helm : </a:t>
            </a:r>
            <a:r>
              <a:rPr lang="en-US" sz="2400">
                <a:solidFill>
                  <a:srgbClr val="051D40"/>
                </a:solidFill>
                <a:latin typeface="Canva Sans"/>
                <a:ea typeface="Canva Sans"/>
                <a:cs typeface="Canva Sans"/>
                <a:sym typeface="Canva Sans"/>
              </a:rPr>
              <a:t>Déploiement automatisé et standardisé de toute la suite de monitoring.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28700" y="1257467"/>
            <a:ext cx="16236681" cy="9851626"/>
            <a:chOff x="0" y="0"/>
            <a:chExt cx="21648908" cy="13135502"/>
          </a:xfrm>
        </p:grpSpPr>
        <p:sp>
          <p:nvSpPr>
            <p:cNvPr name="Freeform 3" id="3"/>
            <p:cNvSpPr/>
            <p:nvPr/>
          </p:nvSpPr>
          <p:spPr>
            <a:xfrm flipH="false" flipV="false" rot="0">
              <a:off x="0" y="0"/>
              <a:ext cx="18844283" cy="9451483"/>
            </a:xfrm>
            <a:custGeom>
              <a:avLst/>
              <a:gdLst/>
              <a:ahLst/>
              <a:cxnLst/>
              <a:rect r="r" b="b" t="t" l="l"/>
              <a:pathLst>
                <a:path h="9451483" w="18844283">
                  <a:moveTo>
                    <a:pt x="0" y="0"/>
                  </a:moveTo>
                  <a:lnTo>
                    <a:pt x="18844283" y="0"/>
                  </a:lnTo>
                  <a:lnTo>
                    <a:pt x="18844283" y="9451483"/>
                  </a:lnTo>
                  <a:lnTo>
                    <a:pt x="0" y="9451483"/>
                  </a:lnTo>
                  <a:lnTo>
                    <a:pt x="0" y="0"/>
                  </a:lnTo>
                  <a:close/>
                </a:path>
              </a:pathLst>
            </a:custGeom>
            <a:blipFill>
              <a:blip r:embed="rId2"/>
              <a:stretch>
                <a:fillRect l="0" t="0" r="0" b="-32836"/>
              </a:stretch>
            </a:blipFill>
          </p:spPr>
        </p:sp>
        <p:grpSp>
          <p:nvGrpSpPr>
            <p:cNvPr name="Group 4" id="4"/>
            <p:cNvGrpSpPr/>
            <p:nvPr/>
          </p:nvGrpSpPr>
          <p:grpSpPr>
            <a:xfrm rot="0">
              <a:off x="0" y="6576026"/>
              <a:ext cx="8805894" cy="2835411"/>
              <a:chOff x="0" y="0"/>
              <a:chExt cx="1739436" cy="560081"/>
            </a:xfrm>
          </p:grpSpPr>
          <p:sp>
            <p:nvSpPr>
              <p:cNvPr name="Freeform 5" id="5"/>
              <p:cNvSpPr/>
              <p:nvPr/>
            </p:nvSpPr>
            <p:spPr>
              <a:xfrm flipH="false" flipV="false" rot="0">
                <a:off x="0" y="0"/>
                <a:ext cx="1739436" cy="560081"/>
              </a:xfrm>
              <a:custGeom>
                <a:avLst/>
                <a:gdLst/>
                <a:ahLst/>
                <a:cxnLst/>
                <a:rect r="r" b="b" t="t" l="l"/>
                <a:pathLst>
                  <a:path h="560081" w="1739436">
                    <a:moveTo>
                      <a:pt x="0" y="0"/>
                    </a:moveTo>
                    <a:lnTo>
                      <a:pt x="1739436" y="0"/>
                    </a:lnTo>
                    <a:lnTo>
                      <a:pt x="1739436" y="560081"/>
                    </a:lnTo>
                    <a:lnTo>
                      <a:pt x="0" y="560081"/>
                    </a:lnTo>
                    <a:close/>
                  </a:path>
                </a:pathLst>
              </a:custGeom>
              <a:solidFill>
                <a:srgbClr val="FDFDFD"/>
              </a:solidFill>
            </p:spPr>
          </p:sp>
          <p:sp>
            <p:nvSpPr>
              <p:cNvPr name="TextBox 6" id="6"/>
              <p:cNvSpPr txBox="true"/>
              <p:nvPr/>
            </p:nvSpPr>
            <p:spPr>
              <a:xfrm>
                <a:off x="0" y="-38100"/>
                <a:ext cx="1739436" cy="598181"/>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0038388" y="2983704"/>
              <a:ext cx="8805894" cy="4413324"/>
              <a:chOff x="0" y="0"/>
              <a:chExt cx="1739436" cy="871768"/>
            </a:xfrm>
          </p:grpSpPr>
          <p:sp>
            <p:nvSpPr>
              <p:cNvPr name="Freeform 8" id="8"/>
              <p:cNvSpPr/>
              <p:nvPr/>
            </p:nvSpPr>
            <p:spPr>
              <a:xfrm flipH="false" flipV="false" rot="0">
                <a:off x="0" y="0"/>
                <a:ext cx="1739436" cy="871768"/>
              </a:xfrm>
              <a:custGeom>
                <a:avLst/>
                <a:gdLst/>
                <a:ahLst/>
                <a:cxnLst/>
                <a:rect r="r" b="b" t="t" l="l"/>
                <a:pathLst>
                  <a:path h="871768" w="1739436">
                    <a:moveTo>
                      <a:pt x="0" y="0"/>
                    </a:moveTo>
                    <a:lnTo>
                      <a:pt x="1739436" y="0"/>
                    </a:lnTo>
                    <a:lnTo>
                      <a:pt x="1739436" y="871768"/>
                    </a:lnTo>
                    <a:lnTo>
                      <a:pt x="0" y="871768"/>
                    </a:lnTo>
                    <a:close/>
                  </a:path>
                </a:pathLst>
              </a:custGeom>
              <a:solidFill>
                <a:srgbClr val="FDFDFD"/>
              </a:solidFill>
            </p:spPr>
          </p:sp>
          <p:sp>
            <p:nvSpPr>
              <p:cNvPr name="TextBox 9" id="9"/>
              <p:cNvSpPr txBox="true"/>
              <p:nvPr/>
            </p:nvSpPr>
            <p:spPr>
              <a:xfrm>
                <a:off x="0" y="-38100"/>
                <a:ext cx="1739436" cy="909868"/>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2843013" y="8722177"/>
              <a:ext cx="8805894" cy="4413324"/>
              <a:chOff x="0" y="0"/>
              <a:chExt cx="1739436" cy="871768"/>
            </a:xfrm>
          </p:grpSpPr>
          <p:sp>
            <p:nvSpPr>
              <p:cNvPr name="Freeform 11" id="11"/>
              <p:cNvSpPr/>
              <p:nvPr/>
            </p:nvSpPr>
            <p:spPr>
              <a:xfrm flipH="false" flipV="false" rot="0">
                <a:off x="0" y="0"/>
                <a:ext cx="1739436" cy="871768"/>
              </a:xfrm>
              <a:custGeom>
                <a:avLst/>
                <a:gdLst/>
                <a:ahLst/>
                <a:cxnLst/>
                <a:rect r="r" b="b" t="t" l="l"/>
                <a:pathLst>
                  <a:path h="871768" w="1739436">
                    <a:moveTo>
                      <a:pt x="0" y="0"/>
                    </a:moveTo>
                    <a:lnTo>
                      <a:pt x="1739436" y="0"/>
                    </a:lnTo>
                    <a:lnTo>
                      <a:pt x="1739436" y="871768"/>
                    </a:lnTo>
                    <a:lnTo>
                      <a:pt x="0" y="871768"/>
                    </a:lnTo>
                    <a:close/>
                  </a:path>
                </a:pathLst>
              </a:custGeom>
              <a:solidFill>
                <a:srgbClr val="FDFDFD"/>
              </a:solidFill>
            </p:spPr>
          </p:sp>
          <p:sp>
            <p:nvSpPr>
              <p:cNvPr name="TextBox 12" id="12"/>
              <p:cNvSpPr txBox="true"/>
              <p:nvPr/>
            </p:nvSpPr>
            <p:spPr>
              <a:xfrm>
                <a:off x="0" y="-38100"/>
                <a:ext cx="1739436" cy="909868"/>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1662571" y="3053401"/>
              <a:ext cx="9986336" cy="1894591"/>
            </a:xfrm>
            <a:custGeom>
              <a:avLst/>
              <a:gdLst/>
              <a:ahLst/>
              <a:cxnLst/>
              <a:rect r="r" b="b" t="t" l="l"/>
              <a:pathLst>
                <a:path h="1894591" w="9986336">
                  <a:moveTo>
                    <a:pt x="0" y="0"/>
                  </a:moveTo>
                  <a:lnTo>
                    <a:pt x="9986337" y="0"/>
                  </a:lnTo>
                  <a:lnTo>
                    <a:pt x="9986337" y="1894591"/>
                  </a:lnTo>
                  <a:lnTo>
                    <a:pt x="0" y="1894591"/>
                  </a:lnTo>
                  <a:lnTo>
                    <a:pt x="0" y="0"/>
                  </a:lnTo>
                  <a:close/>
                </a:path>
              </a:pathLst>
            </a:custGeom>
            <a:blipFill>
              <a:blip r:embed="rId3"/>
              <a:stretch>
                <a:fillRect l="0" t="0" r="0" b="-196492"/>
              </a:stretch>
            </a:blipFill>
          </p:spPr>
        </p:sp>
      </p:grpSp>
      <p:sp>
        <p:nvSpPr>
          <p:cNvPr name="Freeform 14" id="14"/>
          <p:cNvSpPr/>
          <p:nvPr/>
        </p:nvSpPr>
        <p:spPr>
          <a:xfrm flipH="false" flipV="false" rot="0">
            <a:off x="1826846" y="6716117"/>
            <a:ext cx="9515248" cy="2190262"/>
          </a:xfrm>
          <a:custGeom>
            <a:avLst/>
            <a:gdLst/>
            <a:ahLst/>
            <a:cxnLst/>
            <a:rect r="r" b="b" t="t" l="l"/>
            <a:pathLst>
              <a:path h="2190262" w="9515248">
                <a:moveTo>
                  <a:pt x="0" y="0"/>
                </a:moveTo>
                <a:lnTo>
                  <a:pt x="9515248" y="0"/>
                </a:lnTo>
                <a:lnTo>
                  <a:pt x="9515248" y="2190262"/>
                </a:lnTo>
                <a:lnTo>
                  <a:pt x="0" y="2190262"/>
                </a:lnTo>
                <a:lnTo>
                  <a:pt x="0" y="0"/>
                </a:lnTo>
                <a:close/>
              </a:path>
            </a:pathLst>
          </a:custGeom>
          <a:blipFill>
            <a:blip r:embed="rId2"/>
            <a:stretch>
              <a:fillRect l="0" t="-325621" r="-47049" b="0"/>
            </a:stretch>
          </a:blipFill>
        </p:spPr>
      </p:sp>
      <p:sp>
        <p:nvSpPr>
          <p:cNvPr name="TextBox 15" id="15"/>
          <p:cNvSpPr txBox="true"/>
          <p:nvPr/>
        </p:nvSpPr>
        <p:spPr>
          <a:xfrm rot="0">
            <a:off x="10120887" y="2878463"/>
            <a:ext cx="578513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145DA0"/>
                </a:solidFill>
                <a:latin typeface="Canva Sans Bold"/>
                <a:ea typeface="Canva Sans Bold"/>
                <a:cs typeface="Canva Sans Bold"/>
                <a:sym typeface="Canva Sans Bold"/>
              </a:rPr>
              <a:t>http://20.107.200.206:30080/api/helth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DAG66YldlGE</dc:identifier>
  <dcterms:modified xsi:type="dcterms:W3CDTF">2011-08-01T06:04:30Z</dcterms:modified>
  <cp:revision>1</cp:revision>
  <dc:title>recommendation des films</dc:title>
</cp:coreProperties>
</file>